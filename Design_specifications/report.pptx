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8"/>
  </p:notesMasterIdLst>
  <p:sldIdLst>
    <p:sldId id="256" r:id="rId2"/>
    <p:sldId id="282" r:id="rId3"/>
    <p:sldId id="262" r:id="rId4"/>
    <p:sldId id="301" r:id="rId5"/>
    <p:sldId id="298" r:id="rId6"/>
    <p:sldId id="299" r:id="rId7"/>
    <p:sldId id="302" r:id="rId8"/>
    <p:sldId id="306" r:id="rId9"/>
    <p:sldId id="304" r:id="rId10"/>
    <p:sldId id="310" r:id="rId11"/>
    <p:sldId id="300" r:id="rId12"/>
    <p:sldId id="305" r:id="rId13"/>
    <p:sldId id="307" r:id="rId14"/>
    <p:sldId id="280" r:id="rId15"/>
    <p:sldId id="309" r:id="rId16"/>
    <p:sldId id="29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jas Amritkar" initials="TA" lastIdx="2" clrIdx="0">
    <p:extLst>
      <p:ext uri="{19B8F6BF-5375-455C-9EA6-DF929625EA0E}">
        <p15:presenceInfo xmlns:p15="http://schemas.microsoft.com/office/powerpoint/2012/main" userId="dc1a194d304c90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351" autoAdjust="0"/>
  </p:normalViewPr>
  <p:slideViewPr>
    <p:cSldViewPr snapToGrid="0">
      <p:cViewPr varScale="1">
        <p:scale>
          <a:sx n="63" d="100"/>
          <a:sy n="63" d="100"/>
        </p:scale>
        <p:origin x="668" y="56"/>
      </p:cViewPr>
      <p:guideLst/>
    </p:cSldViewPr>
  </p:slideViewPr>
  <p:outlineViewPr>
    <p:cViewPr>
      <p:scale>
        <a:sx n="33" d="100"/>
        <a:sy n="33" d="100"/>
      </p:scale>
      <p:origin x="0" y="-105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52901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11-14T16:14:41.685"/>
    </inkml:context>
    <inkml:brush xml:id="br0">
      <inkml:brushProperty name="width" value="0.4" units="cm"/>
      <inkml:brushProperty name="height" value="0.8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0,'18'0'468,"-1"0"-452,1 0 0,-1 0-16,1 0 31,0 0-31,35 18 31,-18-18-31,0 0 16,18 0-16,0 0 0,18 0 0,-19 0 15,-16 0 1,17 0-16,0 0 16,-18 0-16,18 0 15,0 0-15,17 0 16,-17 0-16,0 0 15,-18 0-15,18 0 0,-17 0 16,17 0-16,-36 0 16,36 0-16,-18 0 15,18 0-15,0 0 0,-18 0 16,54 0-16,-36 0 16,-1 0-16,1 0 15,-17 0-15,17 0 16,-18 0-16,0 0 15,18 0-15,-18 0 16,-17 0-16,35 0 16,-18 0-16,0 0 0,1 0 15,17 0-15,-18 0 16,0 0-16,0 0 16,-17 0-16,17 0 0,-17 0 15,53 0-15,-36 0 16,-17 0-16,17 0 15,0 0-15,-17 0 0,17 0 16,0 0-16,1 0 16,-1 0-16,0 0 15,-17 0-15,-1 0 0,19 0 16,-1 0 0,0 0-16,0 0 0,1 0 15,-19 0-15,19 0 16,-1 0-16,-17 0 0,17 0 15,0 0 1,0 0-16,1 0 16,-19 0-16,19 0 15,-1 0-15,0 0 0,0 0 16,-17 0-16,17 0 16,-17 0-16,17 0 15,1 0-15,-1 0 16,0 0-16,0 0 0,1 0 15,-1 0-15,0 0 16,1 0 0,-1 0-16,0 0 15,0 0-15,1 0 16,-19 0-16,19 0 0,-19 0 16,18 0-16,1 0 15,-1 0-15,0 0 16,1 0-16,-19 0 0,18 0 15,1 0-15,-1 0 16,-17 0-16,17 0 16,0 0-16,-17 0 15,17 0-15,0 0 16,1 0-16,-1 0 16,0 0-16,1 0 0,-19 0 15,1 0-15,17 0 16,0 0-16,1 0 15,-1 0-15,0 0 0,0 0 16,-17 0-16,0 0 16,17 0-16,0 0 15,1 0-15,-1 0 0,0 0 16,0 0-16,-17 0 16,17 0-16,1 0 15,-19 0-15,19 0 16,-1 0-16,0 0 0,-17 0 15,17 0 1,0 0-16,1 0 0,-1 0 16,0 0-16,-17 0 15,17 0-15,-17 0 0,17 0 16,0 0 0,0 0-16,1 0 15,-1 0-15,0 0 0,-17 0 16,0 0-16,17 0 15,0 0-15,0 0 16,1 0-16,-1 0 16,0 0-16,-17 0 0,17 0 15,-17 0-15,17 0 0,0 0 16,1 0 0,-1 0-16,-17 0 15,17 0-15,0 0 0,0 0 16,1 0-1,-19 0-15,19 0 0,-1 0 16,-17 0-16,17 0 0,0 0 16,0 0-16,1 0 0,-1 0 15,0 0-15,0 0 32,1 0-32,-1 0 15,0 0-15,1 0 16,-1 0-16,0 0 15,-17 0-15,-1 0 0,19 0 16,-1 0-16,0 0 16,1 0-16,-1 0 15,-18 0-15,19 0 16,-1 0-16,0 0 0,-17 0 16,17 0-16,0 0 15,1 0-15,-19 0 16,19 0-16,-1 0 15,0 0-15,1 0 0,-1 0 0,-18 0 16,1 0-16,17 0 0,1 0 16,-1 0-16,0 0 15,0 0 1,1 0 0,-1 0-16,0 0 15,1 0-15,-1 0 16,0 0-16,0 0 15,1 0-15,-19 0 16,19 0-16,-19 0 16,18 0-16,1 0 0,-1 0 15,0 0-15,1 0 16,-19 0-16,19 0 16,-1 0-16,0 0 15,0 0-15,-17 0 0,17 0 16,-17 0-16,17 0 15,0 0-15,1 0 16,-1 0-16,0 0 16,-17 0-16,0 0 15,17 0-15,0 0 0,0 0 16,1 0-16,-1 0 16,-17 0-16,17 0 15,0 0-15,-17 0 16,17 0-16,0 0 0,1 0 15,-1 0-15,-17 0 16,17 0-16,0 0 0,0 0 16,1 0-1,-19 0-15,19 0 16,-19 0-16,18 0 16,1 0-16,-1 0 0,0 0 15,1 0-15,-1 0 0,0 0 16,0 0-1,1 0 1,-1 0-16,0 0 0,1 0 16,-1 0-16,-18 0 0,19 0 15,-19 0 1,19 0-16,-1 0 0,0 0 16,1 0-16,-1 0 15,-18 0-15,19 0 16,-1 0-16,0 0 15,-17 0-15,17 0 0,0 0 16,-17 0-16,17 0 0,1 0 16,-1 0-1,0 0-15,0 0 16,1 0-16,-1 0 0,0 0 31,1 0-31,-1 0 0,0 0 0,0 0 16,1 0-16,-19 0 15,1 0-15,17 0 16,1 0 0,-1 0-16,0 0 0,0 0 0,1 0 15,-19 0 1,19 0-16,-1 0 16,-18 0-16,19 0 0,-1 0 0,0 0 31,-17 0-31,17 0 0,1 0 15,-1 0-15,0 0 16,0 0-16,-17 0 16,17 0-16,-17 0 0,17 0 15,0 0-15,1 0 16,-1 0-16,0 0 0,1 0 16,-19 0-16,1 0 15,17 0 1,0 0-16,1 0 0,-1 0 15,0 0-15,0 0 16,-17 0-16,17 0 0,-17 0 0,17 0 31,1 0-31,-1 0 0,0 0 16,-17 0-16,17 0 16,0 0-16,1 0 15,-1 0-15,-17 0 16,17 0-16,0 0 0,-17 0 15,17 0 1,0 0-16,1 0 0,-1 0 16,0 0-16,0 0 15,1 0 1,-1 0-16,0 0 16,1 0-16,-1 0 0,0 0 15,0 0-15,-17 0 16,0 0-16,17 0 15,0 0-15,0 0 16,1 0-16,-1 0 16,-17 0-16,17 0 0,0 0 15,0 0-15,-17 0 16,17 0-16,1 0 16,-1 0-16,-17 0 0,17 0 15,0 0-15,0 0 16,1 0-16,-1 0 15,-17 0-15,-1 0 16,19 0-16,-1 0 0,0 0 16,0 0-16,1 0 15,-1 0-15,0 0 16,-17 0-16,0 0 0,17 0 16,0 0-1,0 0-15,1 0 0,-1 0 16,-17 0-16,17 0 15,0 0-15,-17 0 16,17 0-16,0 0 16,1 0-16,-1 0 0,-18 0 15,36 0-15,0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AAB97-8501-4F6E-BB0C-E5CC115A7D4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9D3A7-6605-4C78-849F-4CDED00BA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9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697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6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178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3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9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6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5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4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5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FFC951A-DB27-4B19-97D3-E946EEC636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798981A-0A8C-4C1B-BE9A-FC42DAF1E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9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f/c/0f6bba6542d33ff8/IgDyUFf81YWDQbpQlZ07f5R5AdgzQYC_b5lwJnJhvP-s5k4?e=mpX3hx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itbacin-my.sharepoint.com/:f:/g/personal/22b1856_iitb_ac_in/IgAOWVWxcgF1Q4KUn1vF8bLRAeXlVkzCPEsTH2C8j-jqvmU?e=hZWvlR" TargetMode="External"/><Relationship Id="rId7" Type="http://schemas.openxmlformats.org/officeDocument/2006/relationships/hyperlink" Target="https://www.systemverilog.io/design/understanding-ddr4-timing-parameters/" TargetMode="External"/><Relationship Id="rId2" Type="http://schemas.openxmlformats.org/officeDocument/2006/relationships/hyperlink" Target="https://github.com/priyanshsingh1765/DDR4_SDRAM_Contoller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ouser.com/datasheet/2/671/Micron_05092023_8gb_ddr4_sdram-3175546.pdf?srsltid=AfmBOooknNrnQ-ZQcWp1XN1gYvKwkCZpKJ7HuCSPsIsDoUlWzrAQltqR" TargetMode="External"/><Relationship Id="rId5" Type="http://schemas.openxmlformats.org/officeDocument/2006/relationships/hyperlink" Target="https://youtu.be/7J7X7aZvMXQ?si=_BlvQHyWFMEiSphZ" TargetMode="External"/><Relationship Id="rId4" Type="http://schemas.openxmlformats.org/officeDocument/2006/relationships/hyperlink" Target="https://in.micron.com/search-results?&amp;activeTab=search-tech-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663217"/>
            <a:ext cx="9418320" cy="1394968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On-chip DDR4 memory controller design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3114" y="4349098"/>
            <a:ext cx="7305773" cy="1570207"/>
          </a:xfrm>
        </p:spPr>
        <p:txBody>
          <a:bodyPr>
            <a:noAutofit/>
          </a:bodyPr>
          <a:lstStyle/>
          <a:p>
            <a:pPr algn="ctr"/>
            <a:endParaRPr lang="en-US" sz="2400" dirty="0"/>
          </a:p>
          <a:p>
            <a:pPr algn="ctr"/>
            <a:r>
              <a:rPr lang="en-US" sz="2400" dirty="0"/>
              <a:t>Guide: P</a:t>
            </a:r>
            <a:r>
              <a:rPr lang="en-US" sz="2400" dirty="0" smtClean="0"/>
              <a:t>rof. Laxmeesha </a:t>
            </a:r>
            <a:r>
              <a:rPr lang="en-US" sz="2400" dirty="0"/>
              <a:t>Somappa</a:t>
            </a:r>
          </a:p>
          <a:p>
            <a:pPr algn="ctr"/>
            <a:r>
              <a:rPr lang="en-US" sz="2400" dirty="0"/>
              <a:t>IIT Bombay</a:t>
            </a:r>
          </a:p>
          <a:p>
            <a:pPr algn="ctr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B0471-CC9A-C396-218A-8F36135D4819}"/>
              </a:ext>
            </a:extLst>
          </p:cNvPr>
          <p:cNvSpPr txBox="1"/>
          <p:nvPr/>
        </p:nvSpPr>
        <p:spPr>
          <a:xfrm>
            <a:off x="4804526" y="3205869"/>
            <a:ext cx="2582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Priyansh</a:t>
            </a:r>
            <a:r>
              <a:rPr lang="en-US" sz="2400" dirty="0"/>
              <a:t> </a:t>
            </a:r>
            <a:r>
              <a:rPr lang="en-US" sz="2400" dirty="0" smtClean="0"/>
              <a:t>Singh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22B1856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66AED-85AD-63FD-33B6-63FFFDED5040}"/>
              </a:ext>
            </a:extLst>
          </p:cNvPr>
          <p:cNvSpPr txBox="1"/>
          <p:nvPr/>
        </p:nvSpPr>
        <p:spPr>
          <a:xfrm>
            <a:off x="2443114" y="2370417"/>
            <a:ext cx="7305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EE492 : B.Tech. Project - II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144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Objective – Digital design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37360"/>
            <a:ext cx="10930128" cy="4998720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Building an on-chip digital circuit for a DDR4 SDRAM memory controller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Takes Simple memory read/write commands from the CPU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Handles DDR4 complexity and maintains bank status for Precharge, Activation, Refresh, Calibration and Configuration requirements along with read/write handling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Essentially hides DDR4 SDRAM specs from the CPU for simpler access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65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DDR functionality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554480"/>
            <a:ext cx="10716768" cy="499872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DDR (</a:t>
            </a:r>
            <a:r>
              <a:rPr lang="en-US" sz="1800" b="1" dirty="0" smtClean="0">
                <a:solidFill>
                  <a:schemeClr val="tx1"/>
                </a:solidFill>
              </a:rPr>
              <a:t>Double Data Rate</a:t>
            </a:r>
            <a:r>
              <a:rPr lang="en-US" sz="1800" dirty="0" smtClean="0">
                <a:solidFill>
                  <a:schemeClr val="tx1"/>
                </a:solidFill>
              </a:rPr>
              <a:t>) is a type of an </a:t>
            </a:r>
            <a:r>
              <a:rPr lang="en-US" sz="1800" b="1" dirty="0" smtClean="0">
                <a:solidFill>
                  <a:schemeClr val="tx1"/>
                </a:solidFill>
              </a:rPr>
              <a:t>SDRAM</a:t>
            </a:r>
            <a:r>
              <a:rPr lang="en-US" sz="1800" dirty="0" smtClean="0">
                <a:solidFill>
                  <a:schemeClr val="tx1"/>
                </a:solidFill>
              </a:rPr>
              <a:t> device. The term “double data rate” indicates data transfers at </a:t>
            </a:r>
            <a:r>
              <a:rPr lang="en-US" sz="1800" b="1" dirty="0" smtClean="0">
                <a:solidFill>
                  <a:schemeClr val="tx1"/>
                </a:solidFill>
              </a:rPr>
              <a:t>both edges</a:t>
            </a:r>
            <a:r>
              <a:rPr lang="en-US" sz="1800" dirty="0" smtClean="0">
                <a:solidFill>
                  <a:schemeClr val="tx1"/>
                </a:solidFill>
              </a:rPr>
              <a:t> of the clock.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endParaRPr lang="en-US" sz="18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It is configured in a </a:t>
            </a:r>
            <a:r>
              <a:rPr lang="en-US" sz="1800" b="1" dirty="0" smtClean="0">
                <a:solidFill>
                  <a:schemeClr val="tx1"/>
                </a:solidFill>
              </a:rPr>
              <a:t>hierarchically addressed </a:t>
            </a:r>
            <a:r>
              <a:rPr lang="en-US" sz="1800" dirty="0" smtClean="0">
                <a:solidFill>
                  <a:schemeClr val="tx1"/>
                </a:solidFill>
              </a:rPr>
              <a:t>structure. The top level of this hierarchy is the </a:t>
            </a:r>
            <a:r>
              <a:rPr lang="en-US" sz="1800" b="1" dirty="0" smtClean="0">
                <a:solidFill>
                  <a:schemeClr val="tx1"/>
                </a:solidFill>
              </a:rPr>
              <a:t>“Rank”</a:t>
            </a:r>
            <a:r>
              <a:rPr lang="en-US" sz="1800" dirty="0" smtClean="0">
                <a:solidFill>
                  <a:schemeClr val="tx1"/>
                </a:solidFill>
              </a:rPr>
              <a:t>, within which multiple </a:t>
            </a:r>
            <a:r>
              <a:rPr lang="en-US" sz="1800" b="1" dirty="0" smtClean="0">
                <a:solidFill>
                  <a:schemeClr val="tx1"/>
                </a:solidFill>
              </a:rPr>
              <a:t>“Bank Groups”</a:t>
            </a:r>
            <a:r>
              <a:rPr lang="en-US" sz="1800" dirty="0" smtClean="0">
                <a:solidFill>
                  <a:schemeClr val="tx1"/>
                </a:solidFill>
              </a:rPr>
              <a:t> are found. Each “Bank Group” consists of multiple </a:t>
            </a:r>
            <a:r>
              <a:rPr lang="en-US" sz="1800" b="1" dirty="0" smtClean="0">
                <a:solidFill>
                  <a:schemeClr val="tx1"/>
                </a:solidFill>
              </a:rPr>
              <a:t>“Banks”</a:t>
            </a:r>
            <a:r>
              <a:rPr lang="en-US" sz="1800" dirty="0" smtClean="0">
                <a:solidFill>
                  <a:schemeClr val="tx1"/>
                </a:solidFill>
              </a:rPr>
              <a:t>. Each Bank is an array of </a:t>
            </a:r>
            <a:r>
              <a:rPr lang="en-US" sz="1800" b="1" dirty="0" smtClean="0">
                <a:solidFill>
                  <a:schemeClr val="tx1"/>
                </a:solidFill>
              </a:rPr>
              <a:t>“1T1C” </a:t>
            </a:r>
            <a:r>
              <a:rPr lang="en-US" sz="1800" dirty="0" smtClean="0">
                <a:solidFill>
                  <a:schemeClr val="tx1"/>
                </a:solidFill>
              </a:rPr>
              <a:t>cells.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This 1T1C cell holds data in a capacitor and the transistor is a switch to access this data. Due to leakage, these capacitors need to be periodically </a:t>
            </a:r>
            <a:r>
              <a:rPr lang="en-US" sz="1800" b="1" dirty="0" smtClean="0">
                <a:solidFill>
                  <a:schemeClr val="tx1"/>
                </a:solidFill>
              </a:rPr>
              <a:t>“</a:t>
            </a:r>
            <a:r>
              <a:rPr lang="en-US" sz="1800" b="1" dirty="0">
                <a:solidFill>
                  <a:schemeClr val="tx1"/>
                </a:solidFill>
              </a:rPr>
              <a:t>R</a:t>
            </a:r>
            <a:r>
              <a:rPr lang="en-US" sz="1800" b="1" dirty="0" smtClean="0">
                <a:solidFill>
                  <a:schemeClr val="tx1"/>
                </a:solidFill>
              </a:rPr>
              <a:t>efreshed”</a:t>
            </a:r>
            <a:r>
              <a:rPr lang="en-US" sz="18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Read/write operations require the bitlines in the array to be precharged to Vdd/2 and turning on the transistors in a row perturbs the bitline voltage which is amplified by a positive feedback circuit called the </a:t>
            </a:r>
            <a:r>
              <a:rPr lang="en-US" sz="1800" b="1" dirty="0" smtClean="0">
                <a:solidFill>
                  <a:schemeClr val="tx1"/>
                </a:solidFill>
              </a:rPr>
              <a:t>“Sense amplifier”.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6807"/>
          <a:stretch/>
        </p:blipFill>
        <p:spPr>
          <a:xfrm>
            <a:off x="2687747" y="2326640"/>
            <a:ext cx="6566570" cy="1196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0221" y="3645323"/>
            <a:ext cx="405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Source: </a:t>
            </a:r>
            <a:r>
              <a:rPr lang="en-US" dirty="0" smtClean="0"/>
              <a:t>Micron DDR4 Specification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03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676128" cy="673608"/>
          </a:xfrm>
        </p:spPr>
        <p:txBody>
          <a:bodyPr>
            <a:noAutofit/>
          </a:bodyPr>
          <a:lstStyle/>
          <a:p>
            <a:r>
              <a:rPr lang="en-US" sz="4000" dirty="0" smtClean="0"/>
              <a:t>DDR4 Block diagram (2Gig x4 configuration)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04" r="1313"/>
          <a:stretch/>
        </p:blipFill>
        <p:spPr>
          <a:xfrm>
            <a:off x="845312" y="1432560"/>
            <a:ext cx="10930128" cy="48031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4381" y="6235751"/>
            <a:ext cx="405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Source: </a:t>
            </a:r>
            <a:r>
              <a:rPr lang="en-US" dirty="0" smtClean="0"/>
              <a:t>Micron DDR4 Specification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81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Design Specifications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595120"/>
            <a:ext cx="10594848" cy="4998720"/>
          </a:xfrm>
        </p:spPr>
        <p:txBody>
          <a:bodyPr>
            <a:noAutofit/>
          </a:bodyPr>
          <a:lstStyle/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MEMORY SPECIFICATION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The primary design and testing of the controller was done with the following memory specifications: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Configuration: x4 – 4 data lines (DQ)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Chip Density: 2Gb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Clock Frequency: 800MHz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Single chip configured as one rank in the RAM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ADDRESS TRANSLATION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32 bit data – 8 consecutive physical addresses each storing 4 bits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</a:rPr>
              <a:t>ROW  BUFFER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Open page policy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2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Memory controller description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1887216" y="3068320"/>
            <a:ext cx="2826000" cy="1107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Controller FSM</a:t>
            </a:r>
          </a:p>
          <a:p>
            <a:pPr algn="ctr"/>
            <a:r>
              <a:rPr lang="en-US" sz="2400" dirty="0" smtClean="0"/>
              <a:t>(Digital design)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5827264" y="3068320"/>
            <a:ext cx="2824480" cy="1107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Datapath (PHY)</a:t>
            </a:r>
          </a:p>
          <a:p>
            <a:pPr algn="ctr"/>
            <a:r>
              <a:rPr lang="en-US" sz="2400" dirty="0" smtClean="0"/>
              <a:t>(Digital)</a:t>
            </a:r>
            <a:endParaRPr lang="en-IN" sz="2400" dirty="0"/>
          </a:p>
        </p:txBody>
      </p:sp>
      <p:sp>
        <p:nvSpPr>
          <p:cNvPr id="20" name="Left-Right Arrow 19"/>
          <p:cNvSpPr/>
          <p:nvPr/>
        </p:nvSpPr>
        <p:spPr>
          <a:xfrm>
            <a:off x="4713216" y="3489960"/>
            <a:ext cx="1114048" cy="2590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Left-Right Arrow 21"/>
          <p:cNvSpPr/>
          <p:nvPr/>
        </p:nvSpPr>
        <p:spPr>
          <a:xfrm>
            <a:off x="8651744" y="4841240"/>
            <a:ext cx="1274576" cy="34036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9926320" y="4175760"/>
            <a:ext cx="1133344" cy="17576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DDR4</a:t>
            </a:r>
            <a:endParaRPr lang="en-IN" sz="2400" dirty="0"/>
          </a:p>
        </p:txBody>
      </p:sp>
      <p:sp>
        <p:nvSpPr>
          <p:cNvPr id="24" name="Rectangle 23"/>
          <p:cNvSpPr/>
          <p:nvPr/>
        </p:nvSpPr>
        <p:spPr>
          <a:xfrm>
            <a:off x="4321292" y="1833880"/>
            <a:ext cx="1897896" cy="782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CPU</a:t>
            </a:r>
            <a:endParaRPr lang="en-IN" sz="2400" dirty="0"/>
          </a:p>
        </p:txBody>
      </p:sp>
      <p:sp>
        <p:nvSpPr>
          <p:cNvPr id="32" name="Rectangle 31"/>
          <p:cNvSpPr/>
          <p:nvPr/>
        </p:nvSpPr>
        <p:spPr>
          <a:xfrm>
            <a:off x="1676400" y="2854960"/>
            <a:ext cx="7274560" cy="30784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Left-Up Arrow 32"/>
          <p:cNvSpPr/>
          <p:nvPr/>
        </p:nvSpPr>
        <p:spPr>
          <a:xfrm rot="5400000" flipH="1">
            <a:off x="3242930" y="2011993"/>
            <a:ext cx="833624" cy="1076334"/>
          </a:xfrm>
          <a:prstGeom prst="leftUpArrow">
            <a:avLst>
              <a:gd name="adj1" fmla="val 7177"/>
              <a:gd name="adj2" fmla="val 9723"/>
              <a:gd name="adj3" fmla="val 26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Left-Up Arrow 33"/>
          <p:cNvSpPr/>
          <p:nvPr/>
        </p:nvSpPr>
        <p:spPr>
          <a:xfrm rot="16200000">
            <a:off x="6463926" y="2011993"/>
            <a:ext cx="833624" cy="1076334"/>
          </a:xfrm>
          <a:prstGeom prst="leftUpArrow">
            <a:avLst>
              <a:gd name="adj1" fmla="val 7177"/>
              <a:gd name="adj2" fmla="val 9723"/>
              <a:gd name="adj3" fmla="val 26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27264" y="4414520"/>
            <a:ext cx="2824480" cy="1107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Datapath (PHY)</a:t>
            </a:r>
          </a:p>
          <a:p>
            <a:pPr algn="ctr"/>
            <a:r>
              <a:rPr lang="en-US" sz="2400" dirty="0" smtClean="0"/>
              <a:t>(Analog)</a:t>
            </a:r>
            <a:endParaRPr lang="en-IN" sz="2400" dirty="0"/>
          </a:p>
        </p:txBody>
      </p:sp>
      <p:sp>
        <p:nvSpPr>
          <p:cNvPr id="13" name="Left-Right Arrow 12"/>
          <p:cNvSpPr/>
          <p:nvPr/>
        </p:nvSpPr>
        <p:spPr>
          <a:xfrm rot="5400000">
            <a:off x="7120123" y="4213643"/>
            <a:ext cx="238762" cy="16299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90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564368" cy="673608"/>
          </a:xfrm>
        </p:spPr>
        <p:txBody>
          <a:bodyPr>
            <a:noAutofit/>
          </a:bodyPr>
          <a:lstStyle/>
          <a:p>
            <a:r>
              <a:rPr lang="en-US" sz="4000" dirty="0" smtClean="0"/>
              <a:t>Controller FSM</a:t>
            </a:r>
            <a:endParaRPr lang="en-US" sz="4000" dirty="0"/>
          </a:p>
        </p:txBody>
      </p:sp>
      <p:sp>
        <p:nvSpPr>
          <p:cNvPr id="3" name="Rounded Rectangle 2"/>
          <p:cNvSpPr/>
          <p:nvPr/>
        </p:nvSpPr>
        <p:spPr>
          <a:xfrm>
            <a:off x="4983480" y="3342640"/>
            <a:ext cx="3728720" cy="12293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4.WAIT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Waits (for t_spec) for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Return to spec. state after spec. delay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3180080" y="1671320"/>
            <a:ext cx="1330960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0.INIT0</a:t>
            </a:r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5201920" y="1671320"/>
            <a:ext cx="1330960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1.INIT1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7066280" y="1671320"/>
            <a:ext cx="1645918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2.INIT_MRS</a:t>
            </a:r>
            <a:endParaRPr lang="en-IN" dirty="0"/>
          </a:p>
        </p:txBody>
      </p:sp>
      <p:sp>
        <p:nvSpPr>
          <p:cNvPr id="11" name="Rounded Rectangle 10"/>
          <p:cNvSpPr/>
          <p:nvPr/>
        </p:nvSpPr>
        <p:spPr>
          <a:xfrm>
            <a:off x="9245600" y="1671320"/>
            <a:ext cx="1419192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3.INIT_ZQ</a:t>
            </a:r>
            <a:endParaRPr lang="en-IN" dirty="0"/>
          </a:p>
        </p:txBody>
      </p:sp>
      <p:cxnSp>
        <p:nvCxnSpPr>
          <p:cNvPr id="17" name="Straight Arrow Connector 16"/>
          <p:cNvCxnSpPr>
            <a:endCxn id="9" idx="2"/>
          </p:cNvCxnSpPr>
          <p:nvPr/>
        </p:nvCxnSpPr>
        <p:spPr>
          <a:xfrm flipV="1">
            <a:off x="5862320" y="2402840"/>
            <a:ext cx="5080" cy="9398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7889240" y="2413000"/>
            <a:ext cx="5080" cy="9398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3" idx="3"/>
            <a:endCxn id="11" idx="2"/>
          </p:cNvCxnSpPr>
          <p:nvPr/>
        </p:nvCxnSpPr>
        <p:spPr>
          <a:xfrm flipV="1">
            <a:off x="8712200" y="2402840"/>
            <a:ext cx="1242996" cy="1554480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8" idx="2"/>
            <a:endCxn id="3" idx="1"/>
          </p:cNvCxnSpPr>
          <p:nvPr/>
        </p:nvCxnSpPr>
        <p:spPr>
          <a:xfrm rot="16200000" flipH="1">
            <a:off x="3637280" y="2611120"/>
            <a:ext cx="1554480" cy="113792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76900" y="5029200"/>
            <a:ext cx="2341880" cy="12192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5.IDLE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Talks </a:t>
            </a:r>
            <a:r>
              <a:rPr lang="en-US" sz="1400" dirty="0"/>
              <a:t>to CPU 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Refresh </a:t>
            </a:r>
            <a:r>
              <a:rPr lang="en-US" sz="1400" dirty="0" smtClean="0"/>
              <a:t>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Bank Status</a:t>
            </a:r>
          </a:p>
        </p:txBody>
      </p:sp>
      <p:cxnSp>
        <p:nvCxnSpPr>
          <p:cNvPr id="27" name="Straight Arrow Connector 26"/>
          <p:cNvCxnSpPr>
            <a:stCxn id="26" idx="0"/>
            <a:endCxn id="3" idx="2"/>
          </p:cNvCxnSpPr>
          <p:nvPr/>
        </p:nvCxnSpPr>
        <p:spPr>
          <a:xfrm flipV="1">
            <a:off x="6847840" y="4572000"/>
            <a:ext cx="0" cy="45720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95090" y="5638800"/>
            <a:ext cx="1245870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7.WRITE</a:t>
            </a:r>
            <a:endParaRPr lang="en-IN" dirty="0"/>
          </a:p>
        </p:txBody>
      </p:sp>
      <p:sp>
        <p:nvSpPr>
          <p:cNvPr id="33" name="Rounded Rectangle 32"/>
          <p:cNvSpPr/>
          <p:nvPr/>
        </p:nvSpPr>
        <p:spPr>
          <a:xfrm>
            <a:off x="8554720" y="5638800"/>
            <a:ext cx="1245870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6.READ</a:t>
            </a:r>
            <a:endParaRPr lang="en-IN" dirty="0"/>
          </a:p>
        </p:txBody>
      </p:sp>
      <p:cxnSp>
        <p:nvCxnSpPr>
          <p:cNvPr id="35" name="Elbow Connector 34"/>
          <p:cNvCxnSpPr>
            <a:stCxn id="32" idx="0"/>
          </p:cNvCxnSpPr>
          <p:nvPr/>
        </p:nvCxnSpPr>
        <p:spPr>
          <a:xfrm rot="5400000" flipH="1" flipV="1">
            <a:off x="4023043" y="4678362"/>
            <a:ext cx="1455421" cy="465457"/>
          </a:xfrm>
          <a:prstGeom prst="bentConnector3">
            <a:avLst>
              <a:gd name="adj1" fmla="val 9956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/>
          <p:nvPr/>
        </p:nvCxnSpPr>
        <p:spPr>
          <a:xfrm rot="16200000" flipV="1">
            <a:off x="8217216" y="4678361"/>
            <a:ext cx="1455421" cy="465457"/>
          </a:xfrm>
          <a:prstGeom prst="bentConnector3">
            <a:avLst>
              <a:gd name="adj1" fmla="val 9956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1"/>
            <a:endCxn id="32" idx="3"/>
          </p:cNvCxnSpPr>
          <p:nvPr/>
        </p:nvCxnSpPr>
        <p:spPr>
          <a:xfrm flipH="1">
            <a:off x="5140960" y="5638800"/>
            <a:ext cx="53594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6" idx="3"/>
            <a:endCxn id="33" idx="1"/>
          </p:cNvCxnSpPr>
          <p:nvPr/>
        </p:nvCxnSpPr>
        <p:spPr>
          <a:xfrm>
            <a:off x="8018780" y="5638800"/>
            <a:ext cx="53594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553210" y="5029200"/>
            <a:ext cx="1648462" cy="6096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8.REFRESH</a:t>
            </a:r>
            <a:endParaRPr lang="en-IN" dirty="0"/>
          </a:p>
        </p:txBody>
      </p:sp>
      <p:cxnSp>
        <p:nvCxnSpPr>
          <p:cNvPr id="58" name="Straight Arrow Connector 57"/>
          <p:cNvCxnSpPr>
            <a:endCxn id="57" idx="3"/>
          </p:cNvCxnSpPr>
          <p:nvPr/>
        </p:nvCxnSpPr>
        <p:spPr>
          <a:xfrm flipH="1">
            <a:off x="3201672" y="5334000"/>
            <a:ext cx="247522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57" idx="0"/>
          </p:cNvCxnSpPr>
          <p:nvPr/>
        </p:nvCxnSpPr>
        <p:spPr>
          <a:xfrm rot="5400000" flipH="1" flipV="1">
            <a:off x="3198496" y="3244215"/>
            <a:ext cx="963930" cy="2606040"/>
          </a:xfrm>
          <a:prstGeom prst="bentConnector2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2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564368" cy="673608"/>
          </a:xfrm>
        </p:spPr>
        <p:txBody>
          <a:bodyPr>
            <a:noAutofit/>
          </a:bodyPr>
          <a:lstStyle/>
          <a:p>
            <a:r>
              <a:rPr lang="en-US" sz="4000" dirty="0" smtClean="0"/>
              <a:t>Refresh interval</a:t>
            </a:r>
            <a:endParaRPr lang="en-US" sz="4000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37360"/>
            <a:ext cx="10594848" cy="499872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What makes DRAM </a:t>
            </a:r>
            <a:r>
              <a:rPr lang="en-US" sz="2000" b="1" dirty="0" smtClean="0">
                <a:solidFill>
                  <a:schemeClr val="tx1"/>
                </a:solidFill>
              </a:rPr>
              <a:t>“Dynamic”</a:t>
            </a:r>
            <a:r>
              <a:rPr lang="en-US" sz="2000" dirty="0" smtClean="0">
                <a:solidFill>
                  <a:schemeClr val="tx1"/>
                </a:solidFill>
              </a:rPr>
              <a:t> is the fact that the capacitors need to be recharged periodically to account for data fade due to </a:t>
            </a:r>
            <a:r>
              <a:rPr lang="en-US" sz="2000" b="1" dirty="0" smtClean="0">
                <a:solidFill>
                  <a:schemeClr val="tx1"/>
                </a:solidFill>
              </a:rPr>
              <a:t>leakage. </a:t>
            </a:r>
            <a:r>
              <a:rPr lang="en-US" sz="2000" dirty="0" smtClean="0">
                <a:solidFill>
                  <a:schemeClr val="tx1"/>
                </a:solidFill>
              </a:rPr>
              <a:t>This is the </a:t>
            </a:r>
            <a:r>
              <a:rPr lang="en-US" sz="2000" b="1" dirty="0" smtClean="0">
                <a:solidFill>
                  <a:schemeClr val="tx1"/>
                </a:solidFill>
              </a:rPr>
              <a:t>“Refresh”</a:t>
            </a:r>
            <a:r>
              <a:rPr lang="en-US" sz="2000" dirty="0" smtClean="0">
                <a:solidFill>
                  <a:schemeClr val="tx1"/>
                </a:solidFill>
              </a:rPr>
              <a:t>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This has to be done at intervals of </a:t>
            </a:r>
            <a:r>
              <a:rPr lang="en-US" sz="2000" b="1" dirty="0" smtClean="0">
                <a:solidFill>
                  <a:schemeClr val="tx1"/>
                </a:solidFill>
              </a:rPr>
              <a:t>T</a:t>
            </a:r>
            <a:r>
              <a:rPr lang="en-US" sz="2000" b="1" baseline="-25000" dirty="0" smtClean="0">
                <a:solidFill>
                  <a:schemeClr val="tx1"/>
                </a:solidFill>
              </a:rPr>
              <a:t>REFI</a:t>
            </a:r>
            <a:r>
              <a:rPr lang="en-US" sz="2000" dirty="0" smtClean="0">
                <a:solidFill>
                  <a:schemeClr val="tx1"/>
                </a:solidFill>
              </a:rPr>
              <a:t>. However, in case of clashes between CPU read/write and refresh interval, CPU commands can be given precedence for up to   9*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T</a:t>
            </a:r>
            <a:r>
              <a:rPr lang="en-US" sz="2000" baseline="-25000" dirty="0" smtClean="0">
                <a:solidFill>
                  <a:schemeClr val="tx1"/>
                </a:solidFill>
              </a:rPr>
              <a:t>REFI</a:t>
            </a:r>
            <a:r>
              <a:rPr lang="en-US" sz="2000" dirty="0" smtClean="0">
                <a:solidFill>
                  <a:schemeClr val="tx1"/>
                </a:solidFill>
              </a:rPr>
              <a:t>, after which Refresh must be performed.</a:t>
            </a:r>
            <a:endParaRPr lang="en-US" sz="2000" dirty="0">
              <a:solidFill>
                <a:schemeClr val="tx1"/>
              </a:solidFill>
            </a:endParaRP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26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564368" cy="673608"/>
          </a:xfrm>
        </p:spPr>
        <p:txBody>
          <a:bodyPr>
            <a:noAutofit/>
          </a:bodyPr>
          <a:lstStyle/>
          <a:p>
            <a:r>
              <a:rPr lang="en-US" sz="4000" dirty="0" smtClean="0"/>
              <a:t>Optimizations for Read/Write</a:t>
            </a:r>
            <a:endParaRPr lang="en-US" sz="4000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37360"/>
            <a:ext cx="10594848" cy="499872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The controller follows an </a:t>
            </a:r>
            <a:r>
              <a:rPr lang="en-US" sz="2000" b="1" dirty="0" smtClean="0">
                <a:solidFill>
                  <a:srgbClr val="FF0000"/>
                </a:solidFill>
              </a:rPr>
              <a:t>open-page row-buffer management </a:t>
            </a:r>
            <a:r>
              <a:rPr lang="en-US" sz="2000" dirty="0" smtClean="0">
                <a:solidFill>
                  <a:schemeClr val="tx1"/>
                </a:solidFill>
              </a:rPr>
              <a:t>policy – keeping the rows open for read/write rather than precharging right away.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This was decided as our system is built only </a:t>
            </a:r>
            <a:r>
              <a:rPr lang="en-US" sz="2000" b="1" dirty="0" smtClean="0">
                <a:solidFill>
                  <a:srgbClr val="FF0000"/>
                </a:solidFill>
              </a:rPr>
              <a:t>for one CPU</a:t>
            </a:r>
            <a:r>
              <a:rPr lang="en-US" sz="2000" dirty="0" smtClean="0">
                <a:solidFill>
                  <a:schemeClr val="tx1"/>
                </a:solidFill>
              </a:rPr>
              <a:t>, so a high </a:t>
            </a:r>
            <a:r>
              <a:rPr lang="en-US" sz="2000" b="1" dirty="0" smtClean="0">
                <a:solidFill>
                  <a:srgbClr val="FF0000"/>
                </a:solidFill>
              </a:rPr>
              <a:t>locality in memory references</a:t>
            </a:r>
            <a:r>
              <a:rPr lang="en-US" sz="2000" dirty="0" smtClean="0">
                <a:solidFill>
                  <a:schemeClr val="tx1"/>
                </a:solidFill>
              </a:rPr>
              <a:t> can be assumed.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Another optimization involves keeping the status of the memory banks stored based on previous transactions. This leads to three cases, in an </a:t>
            </a:r>
            <a:r>
              <a:rPr lang="en-US" sz="2000" b="1" dirty="0" smtClean="0">
                <a:solidFill>
                  <a:schemeClr val="tx1"/>
                </a:solidFill>
              </a:rPr>
              <a:t>increasing order of severity: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chemeClr val="tx1"/>
                </a:solidFill>
              </a:rPr>
              <a:t>CASE 1:</a:t>
            </a:r>
            <a:r>
              <a:rPr lang="en-US" sz="1900" dirty="0" smtClean="0">
                <a:solidFill>
                  <a:schemeClr val="tx1"/>
                </a:solidFill>
              </a:rPr>
              <a:t> Row addressed by the current command is already open =&gt; Controller issues a </a:t>
            </a:r>
            <a:r>
              <a:rPr lang="en-US" sz="1900" b="1" dirty="0" smtClean="0">
                <a:solidFill>
                  <a:schemeClr val="tx1"/>
                </a:solidFill>
              </a:rPr>
              <a:t>Read/Write</a:t>
            </a:r>
            <a:r>
              <a:rPr lang="en-US" sz="1900" dirty="0" smtClean="0">
                <a:solidFill>
                  <a:schemeClr val="tx1"/>
                </a:solidFill>
              </a:rPr>
              <a:t> right away.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chemeClr val="tx1"/>
                </a:solidFill>
              </a:rPr>
              <a:t>CASE 2:</a:t>
            </a:r>
            <a:r>
              <a:rPr lang="en-US" sz="1900" dirty="0" smtClean="0">
                <a:solidFill>
                  <a:schemeClr val="tx1"/>
                </a:solidFill>
              </a:rPr>
              <a:t> Bank addressed </a:t>
            </a:r>
            <a:r>
              <a:rPr lang="en-US" sz="1900" dirty="0">
                <a:solidFill>
                  <a:schemeClr val="tx1"/>
                </a:solidFill>
              </a:rPr>
              <a:t>by the current command is </a:t>
            </a:r>
            <a:r>
              <a:rPr lang="en-US" sz="1900" dirty="0" smtClean="0">
                <a:solidFill>
                  <a:schemeClr val="tx1"/>
                </a:solidFill>
              </a:rPr>
              <a:t>precharged =&gt; </a:t>
            </a:r>
            <a:r>
              <a:rPr lang="en-US" sz="1900" dirty="0">
                <a:solidFill>
                  <a:schemeClr val="tx1"/>
                </a:solidFill>
              </a:rPr>
              <a:t>Controller issues </a:t>
            </a:r>
            <a:r>
              <a:rPr lang="en-US" sz="1900" dirty="0" smtClean="0">
                <a:solidFill>
                  <a:schemeClr val="tx1"/>
                </a:solidFill>
              </a:rPr>
              <a:t>an </a:t>
            </a:r>
            <a:r>
              <a:rPr lang="en-US" sz="1900" b="1" dirty="0" smtClean="0">
                <a:solidFill>
                  <a:schemeClr val="tx1"/>
                </a:solidFill>
              </a:rPr>
              <a:t>Activate</a:t>
            </a:r>
            <a:r>
              <a:rPr lang="en-US" sz="1900" dirty="0" smtClean="0">
                <a:solidFill>
                  <a:schemeClr val="tx1"/>
                </a:solidFill>
              </a:rPr>
              <a:t> command.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CASE </a:t>
            </a:r>
            <a:r>
              <a:rPr lang="en-US" sz="1900" b="1" dirty="0" smtClean="0">
                <a:solidFill>
                  <a:schemeClr val="tx1"/>
                </a:solidFill>
              </a:rPr>
              <a:t>3: </a:t>
            </a:r>
            <a:r>
              <a:rPr lang="en-US" sz="1900" dirty="0" smtClean="0">
                <a:solidFill>
                  <a:schemeClr val="tx1"/>
                </a:solidFill>
              </a:rPr>
              <a:t>A Different Row </a:t>
            </a:r>
            <a:r>
              <a:rPr lang="en-US" sz="1900" dirty="0">
                <a:solidFill>
                  <a:schemeClr val="tx1"/>
                </a:solidFill>
              </a:rPr>
              <a:t>addressed </a:t>
            </a:r>
            <a:r>
              <a:rPr lang="en-US" sz="1900" dirty="0" smtClean="0">
                <a:solidFill>
                  <a:schemeClr val="tx1"/>
                </a:solidFill>
              </a:rPr>
              <a:t>is open in the addressed bank =&gt; </a:t>
            </a:r>
            <a:r>
              <a:rPr lang="en-US" sz="1900" dirty="0">
                <a:solidFill>
                  <a:schemeClr val="tx1"/>
                </a:solidFill>
              </a:rPr>
              <a:t>Controller </a:t>
            </a:r>
            <a:r>
              <a:rPr lang="en-US" sz="1900" dirty="0" smtClean="0">
                <a:solidFill>
                  <a:schemeClr val="tx1"/>
                </a:solidFill>
              </a:rPr>
              <a:t>issues a </a:t>
            </a:r>
            <a:r>
              <a:rPr lang="en-US" sz="1900" b="1" dirty="0" smtClean="0">
                <a:solidFill>
                  <a:schemeClr val="tx1"/>
                </a:solidFill>
              </a:rPr>
              <a:t>Precharge</a:t>
            </a:r>
            <a:r>
              <a:rPr lang="en-US" sz="1900" dirty="0" smtClean="0">
                <a:solidFill>
                  <a:schemeClr val="tx1"/>
                </a:solidFill>
              </a:rPr>
              <a:t> followed by an </a:t>
            </a:r>
            <a:r>
              <a:rPr lang="en-US" sz="1900" b="1" dirty="0" smtClean="0">
                <a:solidFill>
                  <a:schemeClr val="tx1"/>
                </a:solidFill>
              </a:rPr>
              <a:t>Activate</a:t>
            </a:r>
            <a:r>
              <a:rPr lang="en-US" sz="19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51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4994553" y="3401897"/>
            <a:ext cx="1838960" cy="2617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DDR4</a:t>
            </a:r>
            <a:endParaRPr lang="en-IN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564368" cy="673608"/>
          </a:xfrm>
        </p:spPr>
        <p:txBody>
          <a:bodyPr>
            <a:noAutofit/>
          </a:bodyPr>
          <a:lstStyle/>
          <a:p>
            <a:r>
              <a:rPr lang="en-US" sz="4000" dirty="0" smtClean="0"/>
              <a:t>Address translation</a:t>
            </a:r>
            <a:endParaRPr lang="en-US" sz="4000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37360"/>
            <a:ext cx="10594848" cy="499872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The 32-bit CPU sends the 32 bits of data to the controller together.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Since the DQ bus is 4 bits wide, data transfer is done in bursts of 8.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This coincides with the burst mechanism of DDR read/write operations.</a:t>
            </a:r>
          </a:p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79478" y="5542280"/>
            <a:ext cx="1933109" cy="782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Controller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4819546" y="3554297"/>
            <a:ext cx="1838960" cy="2617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DDR4</a:t>
            </a:r>
            <a:endParaRPr lang="en-IN" sz="2400" dirty="0"/>
          </a:p>
        </p:txBody>
      </p:sp>
      <p:sp>
        <p:nvSpPr>
          <p:cNvPr id="9" name="Rectangle 8"/>
          <p:cNvSpPr/>
          <p:nvPr/>
        </p:nvSpPr>
        <p:spPr>
          <a:xfrm>
            <a:off x="1297085" y="3215640"/>
            <a:ext cx="1897896" cy="782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CPU</a:t>
            </a:r>
            <a:endParaRPr lang="en-IN" sz="2400" dirty="0"/>
          </a:p>
        </p:txBody>
      </p:sp>
      <p:sp>
        <p:nvSpPr>
          <p:cNvPr id="15" name="Left-Right Arrow 14"/>
          <p:cNvSpPr/>
          <p:nvPr/>
        </p:nvSpPr>
        <p:spPr>
          <a:xfrm rot="5400000">
            <a:off x="827248" y="4650083"/>
            <a:ext cx="1533656" cy="2209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08480" y="4441622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Address = 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/>
              <a:t>][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]</a:t>
            </a:r>
          </a:p>
          <a:p>
            <a:r>
              <a:rPr lang="en-US" dirty="0" smtClean="0"/>
              <a:t>Data = </a:t>
            </a:r>
            <a:r>
              <a:rPr lang="en-US" dirty="0" smtClean="0">
                <a:solidFill>
                  <a:srgbClr val="FF0000"/>
                </a:solidFill>
              </a:rPr>
              <a:t>8’h50505050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44538" y="3706697"/>
            <a:ext cx="1838960" cy="2617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 smtClean="0"/>
              <a:t>DDR4</a:t>
            </a:r>
          </a:p>
          <a:p>
            <a:pPr algn="ctr"/>
            <a:r>
              <a:rPr lang="en-US" sz="2400" dirty="0" smtClean="0"/>
              <a:t>BG = 2</a:t>
            </a:r>
          </a:p>
          <a:p>
            <a:pPr algn="ctr"/>
            <a:r>
              <a:rPr lang="en-US" sz="2400" dirty="0" smtClean="0"/>
              <a:t>BA = 3</a:t>
            </a:r>
          </a:p>
          <a:p>
            <a:pPr algn="ctr"/>
            <a:endParaRPr lang="en-IN" sz="2400" dirty="0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4856898" y="5015648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4856898" y="5176753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856898" y="5336323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856898" y="5497428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4856898" y="6150176"/>
            <a:ext cx="14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564018" y="5589472"/>
            <a:ext cx="0" cy="45000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3216" y="485189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0</a:t>
            </a:r>
            <a:endParaRPr lang="en-IN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4599462" y="50234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  <a:endParaRPr lang="en-IN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4600341" y="520193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endParaRPr lang="en-IN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4606587" y="53735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3</a:t>
            </a:r>
            <a:endParaRPr lang="en-IN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4600236" y="5969008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</a:t>
            </a:r>
            <a:endParaRPr lang="en-IN" sz="1400" dirty="0"/>
          </a:p>
        </p:txBody>
      </p:sp>
      <p:sp>
        <p:nvSpPr>
          <p:cNvPr id="42" name="Left-Right Arrow 41"/>
          <p:cNvSpPr/>
          <p:nvPr/>
        </p:nvSpPr>
        <p:spPr>
          <a:xfrm rot="10800000">
            <a:off x="3263909" y="5851920"/>
            <a:ext cx="1342678" cy="1919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6375400" y="5331250"/>
            <a:ext cx="1046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3763149" y="5725600"/>
            <a:ext cx="293022" cy="4266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821589" y="5996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4</a:t>
            </a:r>
            <a:endParaRPr lang="en-IN" sz="1400" dirty="0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1383118" y="4460895"/>
            <a:ext cx="428342" cy="66990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65738" y="464195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32</a:t>
            </a:r>
            <a:endParaRPr lang="en-IN" sz="1400" dirty="0"/>
          </a:p>
        </p:txBody>
      </p:sp>
      <p:sp>
        <p:nvSpPr>
          <p:cNvPr id="58" name="Rectangle 57"/>
          <p:cNvSpPr/>
          <p:nvPr/>
        </p:nvSpPr>
        <p:spPr>
          <a:xfrm>
            <a:off x="7451271" y="5116637"/>
            <a:ext cx="4376058" cy="45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Connector 58"/>
          <p:cNvCxnSpPr/>
          <p:nvPr/>
        </p:nvCxnSpPr>
        <p:spPr>
          <a:xfrm rot="5400000" flipV="1">
            <a:off x="9420131" y="5341637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5400000" flipV="1">
            <a:off x="8363491" y="5341637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rot="5400000" flipV="1">
            <a:off x="10527571" y="5355825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rot="5400000" flipV="1">
            <a:off x="7779291" y="5344194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5400000" flipV="1">
            <a:off x="8876571" y="5341637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rot="5400000" flipV="1">
            <a:off x="9953531" y="5341637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5400000" flipV="1">
            <a:off x="11040651" y="5341637"/>
            <a:ext cx="45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166552" y="4441622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Column address: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0	 1	   2      3	     4      5       6      7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66552" y="5562459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Data:</a:t>
            </a:r>
          </a:p>
          <a:p>
            <a:r>
              <a:rPr lang="en-US" dirty="0">
                <a:solidFill>
                  <a:srgbClr val="FF0000"/>
                </a:solidFill>
              </a:rPr>
              <a:t>	0</a:t>
            </a:r>
            <a:r>
              <a:rPr lang="en-US" dirty="0" smtClean="0">
                <a:solidFill>
                  <a:srgbClr val="FF0000"/>
                </a:solidFill>
              </a:rPr>
              <a:t>	 5	   0     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	     0      5       0      </a:t>
            </a:r>
            <a:r>
              <a:rPr lang="en-US" dirty="0">
                <a:solidFill>
                  <a:srgbClr val="FF0000"/>
                </a:solidFill>
              </a:rPr>
              <a:t>5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00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Controller testing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37360"/>
            <a:ext cx="10930128" cy="499872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DIRECT PINOUT TESTING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The first set of tests involved Modelsim simulations for verification of the control pins.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After verification, we moved to testing with a Verilog memory model.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MEMORY MODEL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 used Micron’s DDR4 Verilog memory model for testing with Modelsim simulations</a:t>
            </a:r>
            <a:r>
              <a:rPr lang="en-US" sz="18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We have built a digital </a:t>
            </a:r>
            <a:r>
              <a:rPr lang="en-US" sz="1800" dirty="0" err="1" smtClean="0">
                <a:solidFill>
                  <a:schemeClr val="tx1"/>
                </a:solidFill>
              </a:rPr>
              <a:t>datapath</a:t>
            </a:r>
            <a:r>
              <a:rPr lang="en-US" sz="1800" dirty="0" smtClean="0">
                <a:solidFill>
                  <a:schemeClr val="tx1"/>
                </a:solidFill>
              </a:rPr>
              <a:t> for data transfers on the DQ lines and driving the DQS strobe lines.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The initialization sequence works correctly – initializing the memory, performing calibrations and setting the DRAM mode registers.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Read/Writes are also working as intended.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lvl="1" algn="l"/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72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61872" y="1856631"/>
            <a:ext cx="5890768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# tb.default_period at time 0.0 ns: INFO: Default Clock Period to TS_1250 (1250 </a:t>
            </a:r>
            <a:r>
              <a:rPr lang="en-US" sz="1100" dirty="0" err="1"/>
              <a:t>ps</a:t>
            </a:r>
            <a:r>
              <a:rPr lang="en-US" sz="1100" dirty="0"/>
              <a:t>)</a:t>
            </a:r>
          </a:p>
          <a:p>
            <a:r>
              <a:rPr lang="en-US" sz="1100" dirty="0"/>
              <a:t># Model:Cleared MemoryArray @0.0 ns</a:t>
            </a:r>
          </a:p>
          <a:p>
            <a:r>
              <a:rPr lang="en-US" sz="1100" dirty="0"/>
              <a:t># Setting Timeset:TS_1250 with tCk:1250 @3.1 ns</a:t>
            </a:r>
          </a:p>
          <a:p>
            <a:r>
              <a:rPr lang="en-US" sz="1100" dirty="0"/>
              <a:t># Setting Timeset:TS_1250 with tCk:1250 @5.6 ns</a:t>
            </a:r>
          </a:p>
          <a:p>
            <a:r>
              <a:rPr lang="en-US" sz="1100" dirty="0"/>
              <a:t># Forcing model configuration</a:t>
            </a:r>
          </a:p>
          <a:p>
            <a:r>
              <a:rPr lang="en-US" sz="1100" dirty="0"/>
              <a:t># Controller State = init0, time = 7.5 ns</a:t>
            </a:r>
          </a:p>
          <a:p>
            <a:r>
              <a:rPr lang="en-US" sz="1100" dirty="0"/>
              <a:t># Controller State = init1, time = 210.0 ns</a:t>
            </a:r>
          </a:p>
          <a:p>
            <a:r>
              <a:rPr lang="en-US" sz="1100" dirty="0"/>
              <a:t># Controller State = init_mrs, time = 312.5 ns</a:t>
            </a:r>
          </a:p>
          <a:p>
            <a:r>
              <a:rPr lang="en-US" sz="1100" dirty="0"/>
              <a:t># TB issues first MRS at 1229.4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MRS1 IN CONTROLLER AT TIME = 1235.0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1236.3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MRS2 IN CONTROLLER AT TIME = 1267.5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1268.8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MRS3 IN CONTROLLER AT TIME = 1300.0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1301.3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MRS4 IN CONTROLLER AT TIME = 1332.5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1333.8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MRS5 IN CONTROLLER AT TIME = 1365.0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1366.3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MRS6 IN CONTROLLER AT TIME = 1397.5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1398.8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MRS7 IN CONTROLLER AT TIME = 1430.0 ns</a:t>
            </a:r>
          </a:p>
          <a:p>
            <a:r>
              <a:rPr lang="en-US" sz="1100" dirty="0" smtClean="0"/>
              <a:t># </a:t>
            </a:r>
            <a:r>
              <a:rPr lang="en-US" sz="1100" dirty="0"/>
              <a:t>Controller State = init_mrs, time = 1431.3 ns</a:t>
            </a:r>
          </a:p>
          <a:p>
            <a:r>
              <a:rPr lang="en-US" sz="1100" dirty="0"/>
              <a:t># tb.golden_model.&lt;protected&gt;.&lt;protected&gt;:Initialization complete @1431.3 ns</a:t>
            </a:r>
          </a:p>
          <a:p>
            <a:r>
              <a:rPr lang="en-US" sz="1100" dirty="0"/>
              <a:t># TB issues Precharge at 1448.1 ns</a:t>
            </a:r>
          </a:p>
          <a:p>
            <a:r>
              <a:rPr lang="en-US" sz="1100" dirty="0"/>
              <a:t># TB issues ZQ at 1463.1 ns, increased waiting from 1024 to 1040</a:t>
            </a:r>
          </a:p>
          <a:p>
            <a:r>
              <a:rPr lang="en-US" sz="1100" dirty="0"/>
              <a:t># Controller State = init_zq, time = 1463.8 ns</a:t>
            </a:r>
          </a:p>
          <a:p>
            <a:r>
              <a:rPr lang="en-US" sz="1100" dirty="0"/>
              <a:t># Controller State = init_zq, time = 1480.0 ns</a:t>
            </a:r>
          </a:p>
          <a:p>
            <a:r>
              <a:rPr lang="en-US" sz="1100" dirty="0"/>
              <a:t># Controller State = idle, time = 2762.5 </a:t>
            </a:r>
            <a:r>
              <a:rPr lang="en-US" sz="1100" dirty="0" smtClean="0"/>
              <a:t>ns</a:t>
            </a:r>
            <a:endParaRPr lang="en-US" sz="11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Memory model testing - initialization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1403389" y="5842811"/>
              <a:ext cx="5162760" cy="133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1389" y="5698811"/>
                <a:ext cx="5306760" cy="30132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Straight Arrow Connector 10"/>
          <p:cNvCxnSpPr>
            <a:endCxn id="13" idx="1"/>
          </p:cNvCxnSpPr>
          <p:nvPr/>
        </p:nvCxnSpPr>
        <p:spPr>
          <a:xfrm flipV="1">
            <a:off x="6566149" y="5365395"/>
            <a:ext cx="809610" cy="4774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75759" y="5042229"/>
            <a:ext cx="4708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Memory model displays this on successful </a:t>
            </a:r>
          </a:p>
          <a:p>
            <a:r>
              <a:rPr lang="en-US" dirty="0" smtClean="0"/>
              <a:t>completion of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4481" y="1496760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Modelsim simulation transcript</a:t>
            </a:r>
          </a:p>
        </p:txBody>
      </p:sp>
    </p:spTree>
    <p:extLst>
      <p:ext uri="{BB962C8B-B14F-4D97-AF65-F5344CB8AC3E}">
        <p14:creationId xmlns:p14="http://schemas.microsoft.com/office/powerpoint/2010/main" val="386389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Memory model testing – Read/Writes</a:t>
            </a:r>
            <a:endParaRPr lang="en-US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1261872" y="1517080"/>
            <a:ext cx="1048556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Testing:</a:t>
            </a:r>
          </a:p>
          <a:p>
            <a:r>
              <a:rPr lang="en-US" b="1" dirty="0"/>
              <a:t>	</a:t>
            </a:r>
            <a:r>
              <a:rPr lang="en-US" b="1" dirty="0" smtClean="0"/>
              <a:t>	        (address = [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dirty="0" smtClean="0">
                <a:solidFill>
                  <a:srgbClr val="FF0000"/>
                </a:solidFill>
              </a:rPr>
              <a:t>ank Group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Bank address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Row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Column</a:t>
            </a:r>
            <a:r>
              <a:rPr lang="en-US" b="1" dirty="0" smtClean="0"/>
              <a:t>])</a:t>
            </a:r>
          </a:p>
          <a:p>
            <a:endParaRPr lang="en-US" b="1" dirty="0" smtClean="0"/>
          </a:p>
          <a:p>
            <a:r>
              <a:rPr lang="en-US" b="1" dirty="0"/>
              <a:t>	</a:t>
            </a:r>
            <a:r>
              <a:rPr lang="en-US" b="1" dirty="0" smtClean="0"/>
              <a:t>WRITE : address = 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b="1" dirty="0" smtClean="0"/>
              <a:t>] data = </a:t>
            </a:r>
            <a:r>
              <a:rPr lang="en-US" dirty="0" smtClean="0">
                <a:solidFill>
                  <a:srgbClr val="FF0000"/>
                </a:solidFill>
              </a:rPr>
              <a:t>8’h12345678             </a:t>
            </a:r>
            <a:r>
              <a:rPr lang="en-US" b="1" dirty="0" smtClean="0"/>
              <a:t>CASE 2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/>
              <a:t>	</a:t>
            </a:r>
            <a:r>
              <a:rPr lang="en-US" b="1" dirty="0" smtClean="0"/>
              <a:t>WRITE </a:t>
            </a:r>
            <a:r>
              <a:rPr lang="en-US" b="1" dirty="0"/>
              <a:t>: address = 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/>
              <a:t>] data = </a:t>
            </a:r>
            <a:r>
              <a:rPr lang="en-US" dirty="0" smtClean="0">
                <a:solidFill>
                  <a:srgbClr val="FF0000"/>
                </a:solidFill>
              </a:rPr>
              <a:t>8’h50505050		</a:t>
            </a:r>
            <a:r>
              <a:rPr lang="en-US" b="1" dirty="0"/>
              <a:t> CASE </a:t>
            </a:r>
            <a:r>
              <a:rPr lang="en-US" b="1" dirty="0" smtClean="0"/>
              <a:t>1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r>
              <a:rPr lang="en-US" b="1" dirty="0"/>
              <a:t>	</a:t>
            </a:r>
            <a:r>
              <a:rPr lang="en-US" b="1" dirty="0" smtClean="0"/>
              <a:t>WRITE </a:t>
            </a:r>
            <a:r>
              <a:rPr lang="en-US" b="1" dirty="0"/>
              <a:t>: address = 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/>
              <a:t>] data = </a:t>
            </a:r>
            <a:r>
              <a:rPr lang="en-US" dirty="0" smtClean="0">
                <a:solidFill>
                  <a:srgbClr val="FF0000"/>
                </a:solidFill>
              </a:rPr>
              <a:t>8’h50505050		 </a:t>
            </a:r>
            <a:r>
              <a:rPr lang="en-US" b="1" dirty="0"/>
              <a:t>CASE </a:t>
            </a:r>
            <a:r>
              <a:rPr lang="en-US" b="1" dirty="0" smtClean="0"/>
              <a:t>3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r>
              <a:rPr lang="en-US" b="1" dirty="0" smtClean="0"/>
              <a:t>	WRITE : address = 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b="1" dirty="0" smtClean="0"/>
              <a:t>] data = </a:t>
            </a:r>
            <a:r>
              <a:rPr lang="en-US" dirty="0" smtClean="0">
                <a:solidFill>
                  <a:srgbClr val="FF0000"/>
                </a:solidFill>
              </a:rPr>
              <a:t>8’h89abcdef		</a:t>
            </a:r>
            <a:r>
              <a:rPr lang="en-US" b="1" dirty="0"/>
              <a:t> CASE </a:t>
            </a:r>
            <a:r>
              <a:rPr lang="en-US" b="1" dirty="0" smtClean="0"/>
              <a:t>2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endParaRPr lang="en-US" b="1" dirty="0" smtClean="0"/>
          </a:p>
          <a:p>
            <a:r>
              <a:rPr lang="en-US" b="1" dirty="0"/>
              <a:t>	</a:t>
            </a:r>
            <a:r>
              <a:rPr lang="en-US" b="1" dirty="0" smtClean="0"/>
              <a:t>READ   </a:t>
            </a:r>
            <a:r>
              <a:rPr lang="en-US" b="1" dirty="0"/>
              <a:t>: address = 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 smtClean="0"/>
              <a:t>]					 		 CASE 3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r>
              <a:rPr lang="en-US" b="1" dirty="0"/>
              <a:t>	</a:t>
            </a:r>
            <a:r>
              <a:rPr lang="en-US" b="1" dirty="0" smtClean="0"/>
              <a:t>READ   </a:t>
            </a:r>
            <a:r>
              <a:rPr lang="en-US" b="1" dirty="0"/>
              <a:t>: address = 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/>
              <a:t>][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 smtClean="0"/>
              <a:t>]							</a:t>
            </a:r>
            <a:r>
              <a:rPr lang="en-US" b="1" dirty="0"/>
              <a:t> CASE </a:t>
            </a:r>
            <a:r>
              <a:rPr lang="en-US" b="1" dirty="0" smtClean="0"/>
              <a:t>3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r>
              <a:rPr lang="en-US" b="1" dirty="0"/>
              <a:t>	</a:t>
            </a:r>
            <a:r>
              <a:rPr lang="en-US" b="1" dirty="0" smtClean="0"/>
              <a:t>READ   </a:t>
            </a:r>
            <a:r>
              <a:rPr lang="en-US" b="1" dirty="0"/>
              <a:t>: address = [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b="1" dirty="0" smtClean="0"/>
              <a:t>][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b="1" dirty="0" smtClean="0"/>
              <a:t>]							 </a:t>
            </a:r>
            <a:r>
              <a:rPr lang="en-US" b="1" dirty="0"/>
              <a:t>CASE </a:t>
            </a:r>
            <a:r>
              <a:rPr lang="en-US" b="1" dirty="0" smtClean="0"/>
              <a:t>1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The Modelsim simulation transcripts have been uploaded on the </a:t>
            </a:r>
            <a:r>
              <a:rPr lang="en-US" b="1" dirty="0" smtClean="0">
                <a:hlinkClick r:id="rId2"/>
              </a:rPr>
              <a:t>documentation drive</a:t>
            </a:r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54332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137648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Summary - Tasks done (1/2)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27200"/>
            <a:ext cx="10214781" cy="495808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i="0" u="none" strike="noStrike" baseline="0" dirty="0" smtClean="0">
                <a:solidFill>
                  <a:schemeClr val="tx1"/>
                </a:solidFill>
              </a:rPr>
              <a:t>Modules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</a:rPr>
              <a:t>DDR4_cont: </a:t>
            </a:r>
            <a:r>
              <a:rPr lang="en-US" sz="1800" dirty="0" smtClean="0">
                <a:solidFill>
                  <a:schemeClr val="tx1"/>
                </a:solidFill>
              </a:rPr>
              <a:t>The main controller module FSM that performs the operations and controls the data path. Designed using DDR4 timing specs.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b="1" i="0" u="none" strike="noStrike" baseline="0" dirty="0" smtClean="0">
                <a:solidFill>
                  <a:schemeClr val="tx1"/>
                </a:solidFill>
              </a:rPr>
              <a:t>Datapath:</a:t>
            </a:r>
            <a:r>
              <a:rPr lang="en-US" sz="1800" b="1" i="0" u="none" strike="noStrike" dirty="0" smtClean="0">
                <a:solidFill>
                  <a:schemeClr val="tx1"/>
                </a:solidFill>
              </a:rPr>
              <a:t> </a:t>
            </a:r>
            <a:r>
              <a:rPr lang="en-US" sz="1800" i="0" u="none" strike="noStrike" dirty="0" smtClean="0">
                <a:solidFill>
                  <a:schemeClr val="tx1"/>
                </a:solidFill>
              </a:rPr>
              <a:t>Drives the DQ and DQS lines for writes to the memory and samples these lines for reads from the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u="none" strike="noStrike" dirty="0" smtClean="0">
                <a:solidFill>
                  <a:schemeClr val="tx1"/>
                </a:solidFill>
              </a:rPr>
              <a:t>Debugging/New features</a:t>
            </a:r>
            <a:r>
              <a:rPr lang="en-US" sz="2000" i="0" u="none" strike="noStrike" dirty="0" smtClean="0">
                <a:solidFill>
                  <a:schemeClr val="tx1"/>
                </a:solidFill>
              </a:rPr>
              <a:t>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</a:rPr>
              <a:t>Mode register value adjustments for the assumed model specs.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</a:rPr>
              <a:t>Added a controller ready bit and command register functionality. The command register stores the latest unserved CPU command. This register can be made into a queue as well for queuing and scheduling functionalities.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</a:rPr>
              <a:t>tWR &amp; tRTP (Recovery): </a:t>
            </a:r>
            <a:r>
              <a:rPr lang="en-US" sz="1800" dirty="0" smtClean="0">
                <a:solidFill>
                  <a:schemeClr val="tx1"/>
                </a:solidFill>
              </a:rPr>
              <a:t>Govern the issuing of precharge immediately after read/write commands – there has to be a time gap before precharge – useful for refresh and CASE 3 read/write.</a:t>
            </a:r>
          </a:p>
          <a:p>
            <a:pPr lvl="1" algn="l"/>
            <a:r>
              <a:rPr lang="en-US" sz="1800" dirty="0" smtClean="0">
                <a:solidFill>
                  <a:schemeClr val="tx1"/>
                </a:solidFill>
              </a:rPr>
              <a:t>     Tested all cases for recovery – W--W/R/Refresh, R--W/R/Refresh  </a:t>
            </a:r>
            <a:endParaRPr lang="en-US" sz="1800" i="0" u="none" strike="noStrike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32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137648" cy="673608"/>
          </a:xfrm>
        </p:spPr>
        <p:txBody>
          <a:bodyPr>
            <a:normAutofit/>
          </a:bodyPr>
          <a:lstStyle/>
          <a:p>
            <a:r>
              <a:rPr lang="en-US" sz="4000" dirty="0"/>
              <a:t>Summary - Tasks </a:t>
            </a:r>
            <a:r>
              <a:rPr lang="en-US" sz="4000" dirty="0" smtClean="0"/>
              <a:t>done (2/2)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27200"/>
            <a:ext cx="10214781" cy="495808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u="none" strike="noStrike" dirty="0" smtClean="0">
                <a:solidFill>
                  <a:schemeClr val="tx1"/>
                </a:solidFill>
              </a:rPr>
              <a:t>Debugging/New features</a:t>
            </a:r>
            <a:r>
              <a:rPr lang="en-US" sz="2000" i="0" u="none" strike="noStrike" dirty="0" smtClean="0">
                <a:solidFill>
                  <a:schemeClr val="tx1"/>
                </a:solidFill>
              </a:rPr>
              <a:t>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</a:rPr>
              <a:t>tWTR_L/S: </a:t>
            </a:r>
            <a:r>
              <a:rPr lang="en-US" sz="1800" dirty="0" smtClean="0">
                <a:solidFill>
                  <a:schemeClr val="tx1"/>
                </a:solidFill>
              </a:rPr>
              <a:t>Write to Read timing constraint – tWTR_L for same bank group and tWTR_S for different bank groups.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</a:rPr>
              <a:t>Driving shared lines: </a:t>
            </a:r>
            <a:r>
              <a:rPr lang="en-US" sz="1800" dirty="0" smtClean="0">
                <a:solidFill>
                  <a:schemeClr val="tx1"/>
                </a:solidFill>
              </a:rPr>
              <a:t>Added tristate functionality for shared lines – DQ, DQS – these are driven by both, the controller and DDR sides – the module not driving the line sets the line to High Z for the other module to drive it.</a:t>
            </a:r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132" y="2753360"/>
            <a:ext cx="6703985" cy="23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3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1B41-7832-4A59-C1FF-7D2122AB3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137648" cy="67360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References &amp; Project Repository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C353-E82A-2095-C352-3157B747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432560"/>
            <a:ext cx="10500200" cy="542544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hlinkClick r:id="rId2"/>
              </a:rPr>
              <a:t>https</a:t>
            </a:r>
            <a:r>
              <a:rPr lang="en-US" sz="1800" dirty="0">
                <a:solidFill>
                  <a:schemeClr val="tx1"/>
                </a:solidFill>
                <a:hlinkClick r:id="rId2"/>
              </a:rPr>
              <a:t>://</a:t>
            </a:r>
            <a:r>
              <a:rPr lang="en-US" sz="1800" dirty="0" smtClean="0">
                <a:solidFill>
                  <a:schemeClr val="tx1"/>
                </a:solidFill>
                <a:hlinkClick r:id="rId2"/>
              </a:rPr>
              <a:t>github.com/priyanshsingh1765/DDR4_SDRAM_Contoller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US" sz="18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Project GitHub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smtClean="0">
                <a:hlinkClick r:id="rId3"/>
              </a:rPr>
              <a:t>EE492 – OneDrive</a:t>
            </a:r>
            <a:endParaRPr lang="en-IN" sz="1800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Project drive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hlinkClick r:id="rId4"/>
              </a:rPr>
              <a:t>https://in.micron.com/search-results?&amp;activeTab=search-tech-docs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Micron DDR4 Verilog simulation </a:t>
            </a:r>
            <a:r>
              <a:rPr lang="en-US" sz="1800" dirty="0" smtClean="0">
                <a:solidFill>
                  <a:schemeClr val="tx1"/>
                </a:solidFill>
              </a:rPr>
              <a:t>model</a:t>
            </a:r>
            <a:endParaRPr lang="en-US" sz="1800" dirty="0" smtClean="0">
              <a:solidFill>
                <a:schemeClr val="tx1"/>
              </a:solidFill>
              <a:hlinkClick r:id="rId5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hlinkClick r:id="rId5"/>
              </a:rPr>
              <a:t>https</a:t>
            </a:r>
            <a:r>
              <a:rPr lang="en-US" sz="1800" dirty="0">
                <a:solidFill>
                  <a:schemeClr val="tx1"/>
                </a:solidFill>
                <a:hlinkClick r:id="rId5"/>
              </a:rPr>
              <a:t>://youtu.be/7J7X7aZvMXQ?si=_</a:t>
            </a:r>
            <a:r>
              <a:rPr lang="en-US" sz="1800" dirty="0" smtClean="0">
                <a:solidFill>
                  <a:schemeClr val="tx1"/>
                </a:solidFill>
                <a:hlinkClick r:id="rId5"/>
              </a:rPr>
              <a:t>BlvQHyWFMEiSphZ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US" sz="18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For DRAM basics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hlinkClick r:id="rId6"/>
              </a:rPr>
              <a:t>https</a:t>
            </a:r>
            <a:r>
              <a:rPr lang="en-US" sz="1800" dirty="0">
                <a:solidFill>
                  <a:schemeClr val="tx1"/>
                </a:solidFill>
                <a:hlinkClick r:id="rId6"/>
              </a:rPr>
              <a:t>://</a:t>
            </a:r>
            <a:r>
              <a:rPr lang="en-US" sz="1800" dirty="0" smtClean="0">
                <a:solidFill>
                  <a:schemeClr val="tx1"/>
                </a:solidFill>
                <a:hlinkClick r:id="rId6"/>
              </a:rPr>
              <a:t>www.mouser.com/datasheet/2/671/Micron_05092023_8gb_ddr4_sdram-3175546.pdf?srsltid=AfmBOooknNrnQ-ZQcWp1XN1gYvKwkCZpKJ7HuCSPsIsDoUlWzrAQltqR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endParaRPr lang="en-US" sz="18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</a:rPr>
              <a:t>Micron DDR4 specification</a:t>
            </a:r>
            <a:endParaRPr lang="en-US" sz="1800" b="0" i="0" u="none" strike="noStrike" baseline="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hlinkClick r:id="rId7"/>
              </a:rPr>
              <a:t>https://</a:t>
            </a:r>
            <a:r>
              <a:rPr lang="en-US" sz="1800" dirty="0" smtClean="0">
                <a:solidFill>
                  <a:schemeClr val="tx1"/>
                </a:solidFill>
                <a:hlinkClick r:id="rId7"/>
              </a:rPr>
              <a:t>www.systemverilog.io/design/understanding-ddr4-timing-parameters/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 smtClean="0">
                <a:solidFill>
                  <a:schemeClr val="tx1"/>
                </a:solidFill>
              </a:rPr>
              <a:t>DDR4 timing  parameters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7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2028</TotalTime>
  <Words>1347</Words>
  <Application>Microsoft Office PowerPoint</Application>
  <PresentationFormat>Widescreen</PresentationFormat>
  <Paragraphs>203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Schoolbook</vt:lpstr>
      <vt:lpstr>Wingdings</vt:lpstr>
      <vt:lpstr>Wingdings 2</vt:lpstr>
      <vt:lpstr>View</vt:lpstr>
      <vt:lpstr>On-chip DDR4 memory controller design</vt:lpstr>
      <vt:lpstr>Objective – Digital design</vt:lpstr>
      <vt:lpstr>DDR functionality</vt:lpstr>
      <vt:lpstr>DDR4 Block diagram (2Gig x4 configuration)</vt:lpstr>
      <vt:lpstr>Design Specifications</vt:lpstr>
      <vt:lpstr>Memory controller description</vt:lpstr>
      <vt:lpstr>Controller FSM</vt:lpstr>
      <vt:lpstr>Refresh interval</vt:lpstr>
      <vt:lpstr>Optimizations for Read/Write</vt:lpstr>
      <vt:lpstr>Address translation</vt:lpstr>
      <vt:lpstr>Controller testing</vt:lpstr>
      <vt:lpstr>Memory model testing - initialization</vt:lpstr>
      <vt:lpstr>Memory model testing – Read/Writes</vt:lpstr>
      <vt:lpstr>Summary - Tasks done (1/2)</vt:lpstr>
      <vt:lpstr>Summary - Tasks done (2/2)</vt:lpstr>
      <vt:lpstr>References &amp; Project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Individual Finger Movements using EEG</dc:title>
  <dc:creator>tejasamritkar29@gmail.com</dc:creator>
  <cp:lastModifiedBy>Admin</cp:lastModifiedBy>
  <cp:revision>205</cp:revision>
  <dcterms:created xsi:type="dcterms:W3CDTF">2023-05-04T07:46:44Z</dcterms:created>
  <dcterms:modified xsi:type="dcterms:W3CDTF">2026-05-05T20:40:19Z</dcterms:modified>
</cp:coreProperties>
</file>